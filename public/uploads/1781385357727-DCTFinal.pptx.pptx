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1" r:id="rId22"/>
    <p:sldId id="279" r:id="rId23"/>
    <p:sldId id="276" r:id="rId24"/>
    <p:sldId id="277" r:id="rId25"/>
    <p:sldId id="278" r:id="rId26"/>
    <p:sldId id="28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D5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2D5A"/>
                </a:solidFill>
                <a:latin typeface="Arial"/>
              </a:rPr>
              <a:t>Approx. % Coefficients Zeroed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Coefficients Zeroed</c:v>
                </c:pt>
              </c:strCache>
            </c:strRef>
          </c:tx>
          <c:spPr>
            <a:solidFill>
              <a:srgbClr val="1E3A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D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T=5</c:v>
                </c:pt>
                <c:pt idx="1">
                  <c:v>T=10</c:v>
                </c:pt>
                <c:pt idx="2">
                  <c:v>T=20</c:v>
                </c:pt>
                <c:pt idx="3">
                  <c:v>T=50</c:v>
                </c:pt>
                <c:pt idx="4">
                  <c:v>T=80</c:v>
                </c:pt>
                <c:pt idx="5">
                  <c:v>T=90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25</c:v>
                </c:pt>
                <c:pt idx="2">
                  <c:v>42</c:v>
                </c:pt>
                <c:pt idx="3">
                  <c:v>68</c:v>
                </c:pt>
                <c:pt idx="4">
                  <c:v>82</c:v>
                </c:pt>
                <c:pt idx="5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BE-4EB8-A86F-1044A35E17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74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I am Muhannad, and we are a group of three students presenting our DSP project on image compression using the Discrete Cosine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presentation structure. We cover the full pipeline from motivation to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are large. Compression is essential for storage and transmission. The goal is to reduce size while maintaining acceptable visual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aim is to study the effect of thresholding on image quality and compression. Five objectives guide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are 2D digital signals processed using DSP techniques. DCT transforms these signals into frequency components, enabling compression by removing less important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256×256 grayscale images: smooth/low-frequency, high-frequency edges, natural mixed scene, and medical-like X-ray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image type has different frequency characteristics. This affects how well they can be compressed using DCT thresholding.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DCT is the key transform. It separates image content by frequency, allowing us to identify and remove less important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DCT separates image data into low and high frequency zones. Low-frequency coefficients carry the essential image structure and must be preserved. High-frequency ones can be reduced or eliminated.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questions guided the study. All are answered through the PSNR and CR data collected in MATLAB.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10-step workflow: load image, convert to grayscale, resize to 256×256, divide into 8×8 blocks, apply DCT, apply thresholding, remove small coefficients, apply IDCT, reconstruct image, calculate PSNR and 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Thresholding is the key step. All DCT coefficients with absolute value less than T are set to zero. As T increases, more coefficients are zeroed, increasing CR but reducing PSNR.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PSNR measures image quality and CR measures compression strength. They have an inverse relationship — as you compress more, quality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uses blockproc to apply DCT to every 8×8 block. The mask zeroes coefficients below the threshold. PSNR is built-in; CR is total over non-zero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PSNR decreases as T increases for all image types. The smooth image maintains the highest quality. At T=20, all images remain above 31 dB which is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 curves rise as T increases. The smooth image compresses the most efficiently. High-frequency image reaches only 38.21:1 because its coefficients are harder to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clearly shows the trade-off. At T=20, all image types maintain PSNR above 31 dB with significantly improved compression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smooth image compresses best because almost all its energy is in the low-frequency coefficients. Removing high-frequency coefficients causes minimal visual distortion.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high-frequency image compresses less efficiently. Its important information is in high-frequency coefficients, so removing them causes significant blurring.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natural image compresses poorly due to mixed frequency content. The medical image compresses reasonably but requires careful threshold selection to preserve diagnostic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5F9C-5768-381A-4524-2C3AA584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C8337-0E28-E986-3934-DDF794A86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1A639-9B2F-E213-1A99-2E318F1FE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natural image compresses poorly due to mixed frequency content. The medical image compresses reasonably but requires careful threshold selection to preserve diagnostic structures.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1F207-5856-B18E-BC9B-BB83954261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15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summary shows all four image types at T=20 — the recommended threshold. The smooth image achieves the best combined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DCT thresholding is effective for image compression. The smooth image performs best. T=20 is the recommended threshold for the best quality-compression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includes implementing a full JPEG pipeline, testing colour images, adding SSIM, and exploring adaptive thresholding.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references support the theoretical background and methodology of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panel. Remind them: DCT threshold T=20 is the optimal balance. All team members are ready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0292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Compression using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Cosine Transform (DCT)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5303520" cy="36576"/>
          </a:xfrm>
          <a:prstGeom prst="rect">
            <a:avLst/>
          </a:prstGeom>
          <a:solidFill>
            <a:srgbClr val="4A7EC5"/>
          </a:solidFill>
          <a:ln w="12700">
            <a:solidFill>
              <a:srgbClr val="4A7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29968" y="221284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151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29968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Muhannad Naeem Ahmed AlDabdoub  (ID: 2101006)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9968" y="341985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Khalil AlHadrami  (ID: 2101008)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29968" y="38221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Basim Nasser AlMafraji  (ID: 2101005)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2245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29968" y="42245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Technological College — Systems Engineering Dept.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640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24128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0789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compression? DSP connection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024128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6088" y="10789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research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828800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828800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1883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DCT Concept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theory &amp; frequency zones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828800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76088" y="1883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workflow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633472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633472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" y="26883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2980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compression mechanism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633472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633472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633472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76088" y="26883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76088" y="2980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&amp; Compression Ratio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38144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438144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438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1248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1248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438144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09160" y="3438144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9160" y="3438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76088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76088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&amp; CR graphs + data table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242816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242816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242816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41248" y="4297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Analysis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4590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Per-image-type findings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4242816"/>
            <a:ext cx="4251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09160" y="4242816"/>
            <a:ext cx="475488" cy="694944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09160" y="4242816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276088" y="4297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276088" y="4590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Image Compression?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1521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File Sizes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1700784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4K image can exceed 25 MB. Storing millions of images without compression is impractical.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704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1521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Bandwidth Demand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46320" y="1700784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medical imaging, and satellite data all require efficient data transmission.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74320" y="2980944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74320" y="2980944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72384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30540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Visual Quality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11480" y="3602736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must reduce file size while keeping image quality acceptable to the human eye.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709160" y="2980944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980944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7238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0540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846320" y="3602736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JPEG, MPEG, DICOM — all rely on transform-based compression techniques like DCT.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Aim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1188720"/>
            <a:ext cx="36576" cy="420624"/>
          </a:xfrm>
          <a:prstGeom prst="rect">
            <a:avLst/>
          </a:prstGeom>
          <a:solidFill>
            <a:srgbClr val="4A7EC5"/>
          </a:solidFill>
          <a:ln w="12700">
            <a:solidFill>
              <a:srgbClr val="4A7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1024128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study how DCT thresholding affects image quality and compression ratio across different image types.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" y="2331720"/>
            <a:ext cx="256032" cy="256032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2286000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DCT block-based compression in MATLAB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5029200" cy="438912"/>
          </a:xfrm>
          <a:prstGeom prst="roundRect">
            <a:avLst>
              <a:gd name="adj" fmla="val 20833"/>
            </a:avLst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2336" y="2843784"/>
            <a:ext cx="256032" cy="256032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2798064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six threshold values: T = 5, 10, 20, 50, 80, 90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64408"/>
            <a:ext cx="50292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" y="3355848"/>
            <a:ext cx="256032" cy="256032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" y="3310128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four different image types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76472"/>
            <a:ext cx="5029200" cy="438912"/>
          </a:xfrm>
          <a:prstGeom prst="roundRect">
            <a:avLst>
              <a:gd name="adj" fmla="val 20833"/>
            </a:avLst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2336" y="3867912"/>
            <a:ext cx="256032" cy="256032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" y="3822192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PSNR and Compression Ratio for each case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288536"/>
            <a:ext cx="50292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2336" y="4379976"/>
            <a:ext cx="256032" cy="256032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" y="4334256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 quality-compression trade-off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VARIABLES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224028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23560" y="224028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23560" y="22402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image types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23560" y="292608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23560" y="292608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23560" y="29260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29260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623560" y="361188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23560" y="361188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23560" y="36118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6118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(dB)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623560" y="429768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23560" y="429768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23560" y="42976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0" y="42976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Ratio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DSP Connection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170432"/>
            <a:ext cx="292608" cy="29260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170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115568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2D digital signals — each pixel is a discrete sample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" y="1929384"/>
            <a:ext cx="292608" cy="29260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874520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techniques transform signals to reveal frequency information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" y="2688336"/>
            <a:ext cx="292608" cy="29260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3347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is a frequency-domain transform: a core DSP tool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0624" y="3447288"/>
            <a:ext cx="292608" cy="29260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392424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removes redundant or imperceptible frequency components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4320" y="4087368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" y="4206240"/>
            <a:ext cx="292608" cy="29260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51376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DSP theory to a real-world engineering problem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23560" y="1005840"/>
            <a:ext cx="3246120" cy="39319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23560" y="10515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1481328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06440" y="14813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Image Signal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18836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2103120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06440" y="210312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DCT Block-by-Block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25054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6440" y="2724912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06440" y="272491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Coefficients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31272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3346704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4A7EC5"/>
          </a:solidFill>
          <a:ln w="12700">
            <a:solidFill>
              <a:srgbClr val="4A7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06440" y="334670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37490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06440" y="3968496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06440" y="396849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IDCT — Reconstruct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Images — Four Different Types  (Figure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87552"/>
            <a:ext cx="841248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Images — Characteristics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25196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241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07008" y="1143000"/>
            <a:ext cx="36576" cy="23774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53312" y="10241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(Low Freq)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15910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5910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and uniform regions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18836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18836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edges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21762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1762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energy in low-frequency DCT coefficients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24688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4688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best compression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024128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1024128"/>
            <a:ext cx="4251960" cy="475488"/>
          </a:xfrm>
          <a:prstGeom prst="roundRect">
            <a:avLst>
              <a:gd name="adj" fmla="val 19231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10241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41848" y="1143000"/>
            <a:ext cx="36576" cy="23774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88152" y="10241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Frequency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73752" y="15910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15910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 and rapid changes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73752" y="18836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18836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DCT coefficients are important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73752" y="21762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21762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harder to compress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73752" y="24688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4920" y="24688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visible at high threshold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3017520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017520"/>
            <a:ext cx="4251960" cy="475488"/>
          </a:xfrm>
          <a:prstGeom prst="roundRect">
            <a:avLst>
              <a:gd name="adj" fmla="val 19231"/>
            </a:avLst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30175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07008" y="3136392"/>
            <a:ext cx="36576" cy="23774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353312" y="30175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(Mixed)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8912" y="35844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35844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smooth and detailed areas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38912" y="38770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38770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spread across spectrum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38912" y="41696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41696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moderate compression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38912" y="44622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" y="44622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artefacts appear at high 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09160" y="3017520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09160" y="3017520"/>
            <a:ext cx="4251960" cy="475488"/>
          </a:xfrm>
          <a:prstGeom prst="roundRect">
            <a:avLst>
              <a:gd name="adj" fmla="val 19231"/>
            </a:avLst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18888" y="30175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41848" y="3136392"/>
            <a:ext cx="36576" cy="23774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788152" y="30175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Medical-like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873752" y="35844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74920" y="35844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smooth background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873752" y="38770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74920" y="38770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internal structures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873752" y="41696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074920" y="41696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must be careful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873752" y="44622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74920" y="44622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must be prioritised over CR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→ Frequency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converts an 8×8 pixel block into 64 frequency coefficients, separating structure from detail.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02412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Low-Frequency Coefficients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the top-left of the 8×8 block — store overall brightness, smooth areas, and main structure.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High-Frequency Coefficients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9300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toward the bottom-right — encode sharp edges, fine textures, and noise.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94436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944368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94436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via Thresholding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small-magnitude coefficients to zero reduces data with minimal perceptual quality loss.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Frequency vs High Frequency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51960" cy="594360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Frequency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A2D5A">
              <a:alpha val="85000"/>
            </a:srgbClr>
          </a:solidFill>
          <a:ln w="12700">
            <a:solidFill>
              <a:srgbClr val="1A2D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of DCT block — RETAIN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57984"/>
            <a:ext cx="37947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15798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uniform areas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69464"/>
            <a:ext cx="379476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56946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image brightness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37947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98094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image structure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92424"/>
            <a:ext cx="379476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39242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visual quality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03904"/>
            <a:ext cx="37947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80390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retained during compression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005840"/>
            <a:ext cx="4251960" cy="594360"/>
          </a:xfrm>
          <a:prstGeom prst="roundRect">
            <a:avLst>
              <a:gd name="adj" fmla="val 15385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0058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Frequency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37760" y="1691640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2657A8">
              <a:alpha val="85000"/>
            </a:srgbClr>
          </a:solidFill>
          <a:ln w="12700">
            <a:solidFill>
              <a:srgbClr val="2657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6916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of DCT block — DISCARD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157984"/>
            <a:ext cx="37947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93208" y="215798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 and boundaries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569464"/>
            <a:ext cx="379476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93208" y="256946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textures and patterns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980944"/>
            <a:ext cx="37947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93208" y="298094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components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392424"/>
            <a:ext cx="379476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93208" y="339242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perceptually important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803904"/>
            <a:ext cx="379476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93208" y="380390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at high thresholds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225296"/>
            <a:ext cx="438912" cy="438912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161288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threshold value affect image quality (PSNR)?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2011680"/>
            <a:ext cx="3950208" cy="621792"/>
          </a:xfrm>
          <a:prstGeom prst="rect">
            <a:avLst/>
          </a:prstGeom>
          <a:solidFill>
            <a:srgbClr val="1A2D5A">
              <a:alpha val="12000"/>
            </a:srgbClr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0116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PSNR decreases as T increases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73752" y="1225296"/>
            <a:ext cx="438912" cy="438912"/>
          </a:xfrm>
          <a:prstGeom prst="ellipse">
            <a:avLst/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73752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22392" y="1161288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threshold value affect the Compression Ratio?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73752" y="2011680"/>
            <a:ext cx="3950208" cy="621792"/>
          </a:xfrm>
          <a:prstGeom prst="rect">
            <a:avLst/>
          </a:prstGeom>
          <a:solidFill>
            <a:srgbClr val="2657A8">
              <a:alpha val="12000"/>
            </a:srgbClr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1768" y="20116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CR increases as T increases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" y="3145536"/>
            <a:ext cx="438912" cy="438912"/>
          </a:xfrm>
          <a:prstGeom prst="ellipse">
            <a:avLst/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081528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image type achieves the best compression performance?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" y="3931920"/>
            <a:ext cx="3950208" cy="621792"/>
          </a:xfrm>
          <a:prstGeom prst="rect">
            <a:avLst/>
          </a:prstGeom>
          <a:solidFill>
            <a:srgbClr val="0D6E75">
              <a:alpha val="12000"/>
            </a:srgbClr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93192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smooth/low-frequency image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44368"/>
            <a:ext cx="4251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73752" y="3145536"/>
            <a:ext cx="438912" cy="438912"/>
          </a:xfrm>
          <a:prstGeom prst="ellipse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22392" y="3081528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threshold gives the best quality-compression trade-off?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73752" y="3931920"/>
            <a:ext cx="3950208" cy="621792"/>
          </a:xfrm>
          <a:prstGeom prst="rect">
            <a:avLst/>
          </a:prstGeom>
          <a:solidFill>
            <a:srgbClr val="1A7A50">
              <a:alpha val="12000"/>
            </a:srgbClr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01768" y="393192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 = 20 is optimal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Workflow  (Figure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87552"/>
            <a:ext cx="850392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Thresholding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54864" cy="56692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threshold values tested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5, 10, 20, 50, 80, 90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84248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54864" cy="56692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029968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Coefficients below threshold set to zero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2267712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|C(u,v)| &lt; T → set to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42616"/>
            <a:ext cx="54864" cy="56692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threshold = more removed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zeros = higher compression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00984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54864" cy="56692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46704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removed = lower quality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3584448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decreases as T increases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54864" cy="56692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trade-off in this study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242816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↑ vs PSNR 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1005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1298448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1A2D5A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389888"/>
            <a:ext cx="3063240" cy="914400"/>
          </a:xfrm>
          <a:prstGeom prst="rect">
            <a:avLst/>
          </a:prstGeom>
        </p:spPr>
      </p:pic>
      <p:graphicFrame>
        <p:nvGraphicFramePr>
          <p:cNvPr id="31" name="Chart 0"/>
          <p:cNvGraphicFramePr/>
          <p:nvPr/>
        </p:nvGraphicFramePr>
        <p:xfrm>
          <a:off x="5623560" y="2514600"/>
          <a:ext cx="3246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— Peak Signal-to-Noise Ratio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664208"/>
            <a:ext cx="3913632" cy="822960"/>
          </a:xfrm>
          <a:prstGeom prst="roundRect">
            <a:avLst>
              <a:gd name="adj" fmla="val 11111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719072"/>
            <a:ext cx="3794760" cy="685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8912" y="2578608"/>
            <a:ext cx="3913632" cy="713232"/>
          </a:xfrm>
          <a:prstGeom prst="roundRect">
            <a:avLst>
              <a:gd name="adj" fmla="val 12821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2633472"/>
            <a:ext cx="37947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3401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Higher PSNR = better image quality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8912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PSNR &gt; 40 dB → Excellent quality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38912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PSNR &gt; 30 dB → Acceptable quality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38912" y="44439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Measured in decibels (dB)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09160" y="100584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09160" y="1005840"/>
            <a:ext cx="4251960" cy="566928"/>
          </a:xfrm>
          <a:prstGeom prst="roundRect">
            <a:avLst>
              <a:gd name="adj" fmla="val 16129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09160" y="10058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 — Compression Ratio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73752" y="1664208"/>
            <a:ext cx="3913632" cy="822960"/>
          </a:xfrm>
          <a:prstGeom prst="roundRect">
            <a:avLst>
              <a:gd name="adj" fmla="val 11111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19472" y="1719072"/>
            <a:ext cx="3822192" cy="685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73752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Higher CR = stronger compression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873752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 = 1:1 → no compression applied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873752" y="33467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 = 63:1 → 98% of coefficients removed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873752" y="36941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Inverse relationship with PSNR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873752" y="3968496"/>
            <a:ext cx="3913632" cy="621792"/>
          </a:xfrm>
          <a:prstGeom prst="roundRect">
            <a:avLst>
              <a:gd name="adj" fmla="val 14706"/>
            </a:avLst>
          </a:prstGeom>
          <a:solidFill>
            <a:srgbClr val="1A2D5A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73752" y="3968496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CR ↑   ⟺   Lower PSNR ↓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303520" cy="3913632"/>
          </a:xfrm>
          <a:prstGeom prst="roundRect">
            <a:avLst>
              <a:gd name="adj" fmla="val 2336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060704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0607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compress_dct.m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4447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=== Parameters ===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6459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blockSize = 8;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8470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 = [5,10,20,50,80,90];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24942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=== DCT block-by-block ===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= dctmtx(blockSize);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6517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 = @(b) D * b.data * D';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85292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dct_img = blockproc(img,[8 8],fun);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25526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=== Apply Thresholding ===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45643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abs(dct_img) &gt; 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 = dct_img .* mask;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05993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=== Calculate Metrics ===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26110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psnr_val = psnr(recon, orig);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46227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cr_val   = numel(comp)/nnz(comp);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1005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1325880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5312" y="13716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33488" y="137160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8 px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1947672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25312" y="1993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3488" y="1993392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5, 10, 20, 50, 80, 90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06440" y="2569464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2615184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33488" y="2615184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types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06440" y="3191256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25312" y="3236976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33488" y="3236976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× 256 px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06440" y="3813048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25312" y="38587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Colorspace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33488" y="3858768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06440" y="4434840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25312" y="44805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33488" y="448056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+ CR per run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Results  (Figure 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87552"/>
            <a:ext cx="5943600" cy="3913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987552"/>
            <a:ext cx="2423160" cy="391363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6520" y="987552"/>
            <a:ext cx="242316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46520" y="9875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37960" y="1572768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65392" y="1572768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76288" y="159105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decreases as T increases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37960" y="2066544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65392" y="2066544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76288" y="208483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image: highest PSNR at every threshold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37960" y="2560320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65392" y="256032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76288" y="25786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moderate — 28.45 dB at T=90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37960" y="3054096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65392" y="3054096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76288" y="3072384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Natural: greatest quality loss overall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37960" y="3547872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65392" y="3547872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76288" y="356616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T=20: all image types above 31 dB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Ratio Results  (Figure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87552"/>
            <a:ext cx="5943600" cy="3913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987552"/>
            <a:ext cx="2423160" cy="391363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6520" y="987552"/>
            <a:ext cx="2423160" cy="475488"/>
          </a:xfrm>
          <a:prstGeom prst="roundRect">
            <a:avLst>
              <a:gd name="adj" fmla="val 19231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46520" y="9875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37960" y="1572768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65392" y="1572768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76288" y="159105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increases as T increases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37960" y="2066544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65392" y="2066544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76288" y="2084832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Smooth: 63.08:1 at T=90 (best)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37960" y="2560320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65392" y="256032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76288" y="257860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59.74:1 at T=90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37960" y="3054096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65392" y="3054096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76288" y="3072384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High-freq: only 38.21:1 at T=90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37960" y="3547872"/>
            <a:ext cx="2240280" cy="420624"/>
          </a:xfrm>
          <a:prstGeom prst="roundRect">
            <a:avLst>
              <a:gd name="adj" fmla="val 2173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65392" y="3547872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76288" y="356616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 with PSNR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Numerical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613648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Image Type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 = 10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 = 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 = 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 = 90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D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Smooth Low-Freq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45.81 dB / 20.75:1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41.78 dB / 27.94:1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34.64 dB / 49.69:1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32.16 dB / 63.08:1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65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High-Frequency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38.03 dB / 4.48:1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33.03 dB / 8.70:1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28.03 dB / 23.08:1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25.64 dB / 38.21:1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6E7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Natural Mixed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36.01 dB / 3.28:1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31.06 dB / 7.47:1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26.66 dB / 25.68:1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24.84 dB / 45.45:1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7A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Medical-like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39.78 dB / 8.92:1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35.72 dB / 16.90:1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31.14 dB / 38.04:1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28.45 dB / 59.74:1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2062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PSNR (dB) / Compression Ratio     ·     Higher PSNR = better quality     ·     Higher CR = stronger compression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457200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threshold:  T = 20  →  all images maintain PSNR ≥ 31 dB with meaningful Compression Ratios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Image Analysis  (Figure 5)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87552"/>
            <a:ext cx="8595360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511296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3511296"/>
            <a:ext cx="54864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Compression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85876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 (63.08:1) and highest PSNR at every threshold.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3511296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3511296"/>
            <a:ext cx="54864" cy="658368"/>
          </a:xfrm>
          <a:prstGeom prst="rect">
            <a:avLst/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92040" y="354787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5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Low-Frequency Energy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385876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DCT coefficients concentrated in the top-left block — easily retained.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261104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4261104"/>
            <a:ext cx="54864" cy="658368"/>
          </a:xfrm>
          <a:prstGeom prst="rect">
            <a:avLst/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429768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Distortion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608576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edges mean removing high-freq coefficients causes little perceptual impact.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4261104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09160" y="4261104"/>
            <a:ext cx="54864" cy="658368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92040" y="429768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at T=90: 32.16 dB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92040" y="4608576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visually acceptable even at the highest threshold tested.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High-Frequency Image Analysis  (Figure 6)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87552"/>
            <a:ext cx="8595360" cy="23042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401568"/>
            <a:ext cx="4251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3401568"/>
            <a:ext cx="54864" cy="713232"/>
          </a:xfrm>
          <a:prstGeom prst="rect">
            <a:avLst/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438144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5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Edge Content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74904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intensity changes and sharp edges span the entire image.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3401568"/>
            <a:ext cx="4251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3401568"/>
            <a:ext cx="54864" cy="713232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92040" y="3438144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High-Freq Coefficients Critical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374904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structural information stored in high-frequency DCT coefficients.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206240"/>
            <a:ext cx="4251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4206240"/>
            <a:ext cx="54864" cy="713232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4242816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Blurring at T=50+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55371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blurring as edge information is discarded at high thresholds.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4206240"/>
            <a:ext cx="4251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09160" y="4206240"/>
            <a:ext cx="54864" cy="713232"/>
          </a:xfrm>
          <a:prstGeom prst="rect">
            <a:avLst/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92040" y="4242816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Weakest CR: 38.21:1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92040" y="4553712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removable coefficients compared to smooth image — harder to compress.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&amp; Medical Image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2816772"/>
            <a:ext cx="8869680" cy="210270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47678" y="2557735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35124" y="254182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(Mixed) Image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3120091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3156667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Frequency Content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412699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both smooth regions and detailed textured areas.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897331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933907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Across Spectrum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4189939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data exists at both low and high frequencies.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53244" y="3182112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44684" y="321868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Artefacts at T=50+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44684" y="347472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block boundaries become visible as a grid pattern.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53244" y="3959352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44684" y="399592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PSNR: 24.84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44684" y="425196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quality loss of all image types at T=90.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CCE25B1-CD13-6640-2573-9952B5553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1" y="969264"/>
            <a:ext cx="8733098" cy="1602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B2887-76F4-7E22-8855-EF79A6AD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6AB26F-F437-EC59-0295-316270F7470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3E31BF-B00A-A2E9-8ECE-FEDE8237C593}"/>
              </a:ext>
            </a:extLst>
          </p:cNvPr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&amp; Medical Image Analysis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36C6F8-3BA7-CB3B-1BC3-50930856FC20}"/>
              </a:ext>
            </a:extLst>
          </p:cNvPr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592B65-E4F6-0404-8FE1-8FBF4D7A155A}"/>
              </a:ext>
            </a:extLst>
          </p:cNvPr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CACFED-104E-CB09-D3B2-EF63317B47A8}"/>
              </a:ext>
            </a:extLst>
          </p:cNvPr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EE1D658-EB9E-D6B4-A072-8F200E75874E}"/>
              </a:ext>
            </a:extLst>
          </p:cNvPr>
          <p:cNvSpPr/>
          <p:nvPr/>
        </p:nvSpPr>
        <p:spPr>
          <a:xfrm>
            <a:off x="151352" y="1005840"/>
            <a:ext cx="8809768" cy="3913632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F4AE716-6ABE-8613-4683-FCA4D8CCCA73}"/>
              </a:ext>
            </a:extLst>
          </p:cNvPr>
          <p:cNvSpPr/>
          <p:nvPr/>
        </p:nvSpPr>
        <p:spPr>
          <a:xfrm>
            <a:off x="2446020" y="2645560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573615-87E2-DD7E-A2E8-0AF15759CFE5}"/>
              </a:ext>
            </a:extLst>
          </p:cNvPr>
          <p:cNvSpPr/>
          <p:nvPr/>
        </p:nvSpPr>
        <p:spPr>
          <a:xfrm>
            <a:off x="2537460" y="263363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Medical-like Image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2235D6B-7F86-F4BF-1DFC-6DFA7F4AC4AA}"/>
              </a:ext>
            </a:extLst>
          </p:cNvPr>
          <p:cNvSpPr/>
          <p:nvPr/>
        </p:nvSpPr>
        <p:spPr>
          <a:xfrm>
            <a:off x="406873" y="3340816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01E8123-5D88-5475-AFE8-BB9733AF481F}"/>
              </a:ext>
            </a:extLst>
          </p:cNvPr>
          <p:cNvSpPr/>
          <p:nvPr/>
        </p:nvSpPr>
        <p:spPr>
          <a:xfrm>
            <a:off x="498313" y="3377392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Smooth Background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74979A3-EF82-F6C9-0B91-F8578A9A5875}"/>
              </a:ext>
            </a:extLst>
          </p:cNvPr>
          <p:cNvSpPr/>
          <p:nvPr/>
        </p:nvSpPr>
        <p:spPr>
          <a:xfrm>
            <a:off x="498313" y="3633424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efficient compression — CR reaches 59.74:1 at T=90.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2BF279A-3781-D36C-7D71-41304309B148}"/>
              </a:ext>
            </a:extLst>
          </p:cNvPr>
          <p:cNvSpPr/>
          <p:nvPr/>
        </p:nvSpPr>
        <p:spPr>
          <a:xfrm>
            <a:off x="406873" y="4087368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5A20EBD-614C-78DC-CEC2-D1C1D1F40070}"/>
              </a:ext>
            </a:extLst>
          </p:cNvPr>
          <p:cNvSpPr/>
          <p:nvPr/>
        </p:nvSpPr>
        <p:spPr>
          <a:xfrm>
            <a:off x="498313" y="4154632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Structures at Risk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D904A74-ADE5-2062-07EF-314B630A7787}"/>
              </a:ext>
            </a:extLst>
          </p:cNvPr>
          <p:cNvSpPr/>
          <p:nvPr/>
        </p:nvSpPr>
        <p:spPr>
          <a:xfrm>
            <a:off x="498313" y="4410664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details (organ edges, lesions) may be lost at T≥50.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C37155D-7C57-13D3-B90F-2102C305F53F}"/>
              </a:ext>
            </a:extLst>
          </p:cNvPr>
          <p:cNvSpPr/>
          <p:nvPr/>
        </p:nvSpPr>
        <p:spPr>
          <a:xfrm>
            <a:off x="4905280" y="3182112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383F018-0C32-27D2-22B2-E5679A54ED0A}"/>
              </a:ext>
            </a:extLst>
          </p:cNvPr>
          <p:cNvSpPr/>
          <p:nvPr/>
        </p:nvSpPr>
        <p:spPr>
          <a:xfrm>
            <a:off x="4996720" y="321868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 T=20: 35.72 dB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4AF292B-79A6-3AB1-6433-ADA7940A0884}"/>
              </a:ext>
            </a:extLst>
          </p:cNvPr>
          <p:cNvSpPr/>
          <p:nvPr/>
        </p:nvSpPr>
        <p:spPr>
          <a:xfrm>
            <a:off x="4996720" y="347472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quality-compression balance for medical use.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CEB955F-9334-2137-71C9-70E20E25C13A}"/>
              </a:ext>
            </a:extLst>
          </p:cNvPr>
          <p:cNvSpPr/>
          <p:nvPr/>
        </p:nvSpPr>
        <p:spPr>
          <a:xfrm>
            <a:off x="4905280" y="3959352"/>
            <a:ext cx="391363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BF5CDBE-4C39-FB17-F941-8191C8F9FCDB}"/>
              </a:ext>
            </a:extLst>
          </p:cNvPr>
          <p:cNvSpPr/>
          <p:nvPr/>
        </p:nvSpPr>
        <p:spPr>
          <a:xfrm>
            <a:off x="4996720" y="399592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T ≤ 20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92B27EA-7D5B-58D7-3920-B5E21CBA0E66}"/>
              </a:ext>
            </a:extLst>
          </p:cNvPr>
          <p:cNvSpPr/>
          <p:nvPr/>
        </p:nvSpPr>
        <p:spPr>
          <a:xfrm>
            <a:off x="4996720" y="425196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quality over compression in medical imaging.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296856D-06A6-BA55-2441-3A337E8E819B}"/>
              </a:ext>
            </a:extLst>
          </p:cNvPr>
          <p:cNvSpPr/>
          <p:nvPr/>
        </p:nvSpPr>
        <p:spPr>
          <a:xfrm>
            <a:off x="4740688" y="4626864"/>
            <a:ext cx="4251960" cy="292608"/>
          </a:xfrm>
          <a:prstGeom prst="roundRect">
            <a:avLst>
              <a:gd name="adj" fmla="val 15625"/>
            </a:avLst>
          </a:prstGeom>
          <a:solidFill>
            <a:srgbClr val="FFF3CD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AB5BE82-BEF0-120F-FCBF-8B8CAEBF8D10}"/>
              </a:ext>
            </a:extLst>
          </p:cNvPr>
          <p:cNvSpPr/>
          <p:nvPr/>
        </p:nvSpPr>
        <p:spPr>
          <a:xfrm>
            <a:off x="4786408" y="46268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Medical images: always prioritise quality over compression ratio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0CA9567-DD38-3156-A722-8CEE7C71A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902018"/>
            <a:ext cx="8595360" cy="17760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5881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Image Type Comparison at T = 20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5156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(Low-Freq)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24912" y="114300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24912" y="114300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24912" y="13990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41.78 dB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14300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13990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27.94:1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88736" y="1161288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— high PSNR, high CR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01168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Medical-like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24912" y="210312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24912" y="21031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24912" y="2359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35.72 dB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210312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0" y="21031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2359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16.90:1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88736" y="2121408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quality — use T≤20 for clinical use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2657A8"/>
          </a:solidFill>
          <a:ln w="12700">
            <a:solidFill>
              <a:srgbClr val="265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9718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High-Frequency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24912" y="306324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24912" y="30632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24912" y="33192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5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33.03 dB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97680" y="306324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97680" y="30632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0" y="33192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5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8.70:1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888736" y="3081528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blurring risk at high 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931920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0D6E75"/>
          </a:solidFill>
          <a:ln w="12700">
            <a:solidFill>
              <a:srgbClr val="0D6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93192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(Mixed)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24912" y="402336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24912" y="4023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24912" y="42793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31.06 dB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97680" y="402336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97680" y="4023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42793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7.47:1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888736" y="4041648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compress — block artefacts at T&gt;20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69080" cy="1627632"/>
          </a:xfrm>
          <a:prstGeom prst="roundRect">
            <a:avLst>
              <a:gd name="adj" fmla="val 5618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" y="1225296"/>
            <a:ext cx="475488" cy="475488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1243584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Confirmed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1764792"/>
            <a:ext cx="3767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thresholding successfully compressed all four image types with varying performance.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069080" cy="1627632"/>
          </a:xfrm>
          <a:prstGeom prst="roundRect">
            <a:avLst>
              <a:gd name="adj" fmla="val 5618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19472" y="1225296"/>
            <a:ext cx="475488" cy="475488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04688" y="1243584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Trade-off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1764792"/>
            <a:ext cx="3767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threshold increases Compression Ratio but reduces PSNR — quality is sacrificed for size.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4069080" cy="1627632"/>
          </a:xfrm>
          <a:prstGeom prst="roundRect">
            <a:avLst>
              <a:gd name="adj" fmla="val 5618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" y="3035808"/>
            <a:ext cx="475488" cy="475488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3054096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Image Best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" y="3575304"/>
            <a:ext cx="3767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smooth/low-frequency image achieved the highest PSNR and largest CR across all thresholds.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889504"/>
            <a:ext cx="4069080" cy="1627632"/>
          </a:xfrm>
          <a:prstGeom prst="roundRect">
            <a:avLst>
              <a:gd name="adj" fmla="val 5618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19472" y="3035808"/>
            <a:ext cx="475488" cy="475488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04688" y="3054096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20 is Optimal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3575304"/>
            <a:ext cx="3767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T=20 provides the best balance: all images maintain PSNR ≥ 31 dB with strong compression.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38912" cy="438912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JPEG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118872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quantisation matrices, zig-zag scanning, run-length encoding, and Huffman coding.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93008" y="1280160"/>
            <a:ext cx="36576" cy="438912"/>
          </a:xfrm>
          <a:prstGeom prst="rect">
            <a:avLst/>
          </a:prstGeom>
          <a:solidFill>
            <a:srgbClr val="4A7EC5">
              <a:alpha val="60000"/>
            </a:srgbClr>
          </a:solidFill>
          <a:ln w="12700">
            <a:solidFill>
              <a:srgbClr val="4A7E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438912" cy="438912"/>
          </a:xfrm>
          <a:prstGeom prst="ellipse">
            <a:avLst/>
          </a:prstGeom>
          <a:solidFill>
            <a:srgbClr val="5BC8AF"/>
          </a:solidFill>
          <a:ln w="12700">
            <a:solidFill>
              <a:srgbClr val="5BC8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Space 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12140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grayscale to RGB and YCbCr colour space images for broader applicability.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93008" y="2212848"/>
            <a:ext cx="36576" cy="438912"/>
          </a:xfrm>
          <a:prstGeom prst="rect">
            <a:avLst/>
          </a:prstGeom>
          <a:solidFill>
            <a:srgbClr val="4A7EC5">
              <a:alpha val="60000"/>
            </a:srgbClr>
          </a:solidFill>
          <a:ln w="12700">
            <a:solidFill>
              <a:srgbClr val="4A7E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438912" cy="438912"/>
          </a:xfrm>
          <a:prstGeom prst="ellipse">
            <a:avLst/>
          </a:prstGeom>
          <a:solidFill>
            <a:srgbClr val="79A6D9"/>
          </a:solidFill>
          <a:ln w="12700">
            <a:solidFill>
              <a:srgbClr val="79A6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035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Quality Metric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054096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SSIM (Structural Similarity Index) alongside PSNR for perceptual quality assessment.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93008" y="3145536"/>
            <a:ext cx="36576" cy="438912"/>
          </a:xfrm>
          <a:prstGeom prst="rect">
            <a:avLst/>
          </a:prstGeom>
          <a:solidFill>
            <a:srgbClr val="4A7EC5">
              <a:alpha val="60000"/>
            </a:srgbClr>
          </a:solidFill>
          <a:ln w="12700">
            <a:solidFill>
              <a:srgbClr val="4A7E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895344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1E3A7A"/>
          </a:solidFill>
          <a:ln w="12700">
            <a:solidFill>
              <a:srgbClr val="1E3A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078224"/>
            <a:ext cx="438912" cy="438912"/>
          </a:xfrm>
          <a:prstGeom prst="ellipse">
            <a:avLst/>
          </a:prstGeom>
          <a:solidFill>
            <a:srgbClr val="C78FE0"/>
          </a:solidFill>
          <a:ln w="12700">
            <a:solidFill>
              <a:srgbClr val="C78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9684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8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Thresholding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3986784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image-specific or block-specific adaptive thresholds for improved performance.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93008" y="4078224"/>
            <a:ext cx="36576" cy="438912"/>
          </a:xfrm>
          <a:prstGeom prst="rect">
            <a:avLst/>
          </a:prstGeom>
          <a:solidFill>
            <a:srgbClr val="4A7EC5">
              <a:alpha val="60000"/>
            </a:srgbClr>
          </a:solidFill>
          <a:ln w="12700">
            <a:solidFill>
              <a:srgbClr val="4A7E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7315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MTCS6017 — Digital Signal Processing  |  Military Technological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54864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75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K. R. Rao and P. Yip, Discrete Cosine Transform: Algorithms, Advantages, Applications. Academic Press, 1990.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859536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54864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8275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G. K. Wallace, "The JPEG still picture compression standard," IEEE Trans. Consumer Electronics, vol. 38, no. 1, 1992.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54864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8275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R. C. Gonzalez and R. E. Woods, Digital Image Processing, 4th ed. Pearson, 2018.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859536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54864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8275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A. N. Netravali and B. G. Haskell, Digital Pictures: Representation, Compression and Standards. Plenum Press, 1995.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54864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8275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MATLAB Documentation — blockproc, dctmtx, psnr functions. MathWorks, 2024.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ready for your questions.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5029200" cy="36576"/>
          </a:xfrm>
          <a:prstGeom prst="rect">
            <a:avLst/>
          </a:prstGeom>
          <a:solidFill>
            <a:srgbClr val="4A7EC5"/>
          </a:solidFill>
          <a:ln w="12700">
            <a:solidFill>
              <a:srgbClr val="4A7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395728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2450592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Muhannad Naeem Ahmed AlDabdoub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29077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2101006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395728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84448" y="2450592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Khaled Khalil AlHadrami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84448" y="29077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2101008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395728"/>
            <a:ext cx="2606040" cy="896112"/>
          </a:xfrm>
          <a:prstGeom prst="roundRect">
            <a:avLst>
              <a:gd name="adj" fmla="val 10204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73368" y="2450592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Basim Nasser AlMafraji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73368" y="29077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2101005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45643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4930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MTCS6017 — Digital Signal 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Technological College  |  Systems Engineering 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Takeaway:  DCT threshold T = 20 gives the best quality-compression trade-off.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2882</Words>
  <Application>Microsoft Office PowerPoint</Application>
  <PresentationFormat>On-screen Show (16:9)</PresentationFormat>
  <Paragraphs>487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Compression using DCT</dc:title>
  <dc:subject>PptxGenJS Presentation</dc:subject>
  <dc:creator>PptxGenJS</dc:creator>
  <cp:lastModifiedBy>2101006</cp:lastModifiedBy>
  <cp:revision>3</cp:revision>
  <dcterms:created xsi:type="dcterms:W3CDTF">2026-06-13T12:00:21Z</dcterms:created>
  <dcterms:modified xsi:type="dcterms:W3CDTF">2026-06-13T19:13:51Z</dcterms:modified>
</cp:coreProperties>
</file>